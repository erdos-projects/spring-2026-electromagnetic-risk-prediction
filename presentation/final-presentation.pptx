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7"/>
    <p:restoredTop sz="94681"/>
  </p:normalViewPr>
  <p:slideViewPr>
    <p:cSldViewPr snapToGrid="0">
      <p:cViewPr varScale="1">
        <p:scale>
          <a:sx n="83" d="100"/>
          <a:sy n="83" d="100"/>
        </p:scale>
        <p:origin x="216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46A1-5362-28FF-3AA2-25E04B7D1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45DCB-3EB7-53BC-180E-BF97154C9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87CA5-9DFF-2D64-3B0A-65EBE26A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528FB-64F8-7856-C02D-69D0D4EB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9A066-2FB1-3BB0-94EF-01556919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15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C110-66AF-A1DE-889D-D49C26A3C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DFCE-E9F5-7577-5087-84E9A4D5A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40B42-BA29-7E7B-AFEE-99CDE55B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79995-E165-F954-6EFA-9063A7F2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F4DE-E8B8-32CF-9E74-DE99C92E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0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F635-6AC2-5569-EBA8-DB52B28D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0DFD9-314B-9229-57F9-55E93968C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5AB09-B9BA-606A-BC8E-7C7BE5C8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9C035-3C5E-FE36-5C9D-239744DA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38739-82BC-B4B0-EBBF-3EAF212F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8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8815-C735-6849-B9F6-D6D69F28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C820-9637-7237-D858-019348893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E0D3B-6E0A-E7AE-9B7D-CCE30FF97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7CD34-1908-4F6B-69BB-9B8D444C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75774-2938-E99D-AF8D-7F8D083B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F37AF-2E4F-68FB-8C01-D344885D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6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585-8E52-AC46-03CE-F93FB194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A5D9C-2FEB-CAD4-AD8F-44F3B6BD2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11DF5-B5A7-9329-C16E-63A8D8311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08EB8-B734-5789-DE04-4391E7F8E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FDD29-9EC1-048D-AEF4-C84269D77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1EECB-D9D3-C5F7-414D-8B7423BB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D38328-DF05-EA37-D8DB-2164D875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1D8D7-D438-8E13-CCEA-23775985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9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A217-186B-4799-8406-D03FB3336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75C58-9D62-A838-FD40-3CCB9ACD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FF536-41CE-F43F-2F1B-CFA45ABA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4D289-4602-40C1-60C5-7B29BEFE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2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03785C-930D-CA98-305E-22536412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93E5B-C27C-D560-DFAC-BBB51080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4FFBE-FC2A-D632-BBF2-54509678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8A4A-57FC-9B7C-C895-9118591A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2899E-6B02-AFA8-52F2-8E755BF4C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F1BAB-2000-6514-5616-AA33C6C15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08B00-5FDA-974D-DD57-C4DB0281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ED1FA-05D3-9327-4824-82D52445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BF86D-D18E-4821-DD7B-1BCA57D0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6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C1A0-35CC-D263-3A84-2FA38FC3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CF3AD-8187-BBDB-8A4A-3C9DC67B5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124C5-52F4-8711-EABD-11DDD353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3CF0A-BA32-43C1-65E5-0A0625B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26A4F-E18B-B434-9550-4BCFFE33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D57D1-1592-C721-5B7C-28FDA207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4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648F-9350-6BF2-5ED6-AE60C7F8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EEE80-28A0-EC8D-9BFD-6AD13284C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8A1C8-0DD4-16BD-0DDB-996FF06D1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02902-8C0A-8635-C246-5F64A5BE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7FE09-96AE-E962-AA40-58D8FB1C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2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FA41C9-0D2A-3E94-C6D2-BF62C6111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B6400-8DC0-B3E0-3051-B6979234A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F354F-E51A-B559-C2DF-2077C7BD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4C72E-A467-2854-40D1-B89C43690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69616-49F5-54D2-4624-995FAA0A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9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39ED9-84C8-DC86-819F-899FD1C9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72EFE-03E6-F618-9990-8F5C01F66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0BC31-73A9-4462-5A1B-4E74D376B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F159B-C9C1-FD46-A557-E92908D6FED3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0001-8175-8B9B-4553-CAB574D93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C3255-CEA2-5DCC-51CF-C1CBE004F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EA15D-E067-1E4A-885F-AAF7D55A4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0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un">
            <a:extLst>
              <a:ext uri="{FF2B5EF4-FFF2-40B4-BE49-F238E27FC236}">
                <a16:creationId xmlns:a16="http://schemas.microsoft.com/office/drawing/2014/main" id="{8A490BD3-3DFE-8836-33B2-9D23BBBDD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772D1-A752-EBCF-2DC0-17122DA83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sz="6600">
                <a:solidFill>
                  <a:srgbClr val="FFFFFF"/>
                </a:solidFill>
              </a:rPr>
              <a:t>Solar Storm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9697E-C52C-B2E7-DC64-9C2078083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1687815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George H. Seelinger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Erdos Institute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sX0" fmla="*/ 0 w 5303520"/>
              <a:gd name="csY0" fmla="*/ 0 h 18288"/>
              <a:gd name="csX1" fmla="*/ 556870 w 5303520"/>
              <a:gd name="csY1" fmla="*/ 0 h 18288"/>
              <a:gd name="csX2" fmla="*/ 1272845 w 5303520"/>
              <a:gd name="csY2" fmla="*/ 0 h 18288"/>
              <a:gd name="csX3" fmla="*/ 1882750 w 5303520"/>
              <a:gd name="csY3" fmla="*/ 0 h 18288"/>
              <a:gd name="csX4" fmla="*/ 2439619 w 5303520"/>
              <a:gd name="csY4" fmla="*/ 0 h 18288"/>
              <a:gd name="csX5" fmla="*/ 3155594 w 5303520"/>
              <a:gd name="csY5" fmla="*/ 0 h 18288"/>
              <a:gd name="csX6" fmla="*/ 3818534 w 5303520"/>
              <a:gd name="csY6" fmla="*/ 0 h 18288"/>
              <a:gd name="csX7" fmla="*/ 4481474 w 5303520"/>
              <a:gd name="csY7" fmla="*/ 0 h 18288"/>
              <a:gd name="csX8" fmla="*/ 5303520 w 5303520"/>
              <a:gd name="csY8" fmla="*/ 0 h 18288"/>
              <a:gd name="csX9" fmla="*/ 5303520 w 5303520"/>
              <a:gd name="csY9" fmla="*/ 18288 h 18288"/>
              <a:gd name="csX10" fmla="*/ 4746650 w 5303520"/>
              <a:gd name="csY10" fmla="*/ 18288 h 18288"/>
              <a:gd name="csX11" fmla="*/ 4242816 w 5303520"/>
              <a:gd name="csY11" fmla="*/ 18288 h 18288"/>
              <a:gd name="csX12" fmla="*/ 3526841 w 5303520"/>
              <a:gd name="csY12" fmla="*/ 18288 h 18288"/>
              <a:gd name="csX13" fmla="*/ 2969971 w 5303520"/>
              <a:gd name="csY13" fmla="*/ 18288 h 18288"/>
              <a:gd name="csX14" fmla="*/ 2253996 w 5303520"/>
              <a:gd name="csY14" fmla="*/ 18288 h 18288"/>
              <a:gd name="csX15" fmla="*/ 1484986 w 5303520"/>
              <a:gd name="csY15" fmla="*/ 18288 h 18288"/>
              <a:gd name="csX16" fmla="*/ 875081 w 5303520"/>
              <a:gd name="csY16" fmla="*/ 18288 h 18288"/>
              <a:gd name="csX17" fmla="*/ 0 w 5303520"/>
              <a:gd name="csY17" fmla="*/ 18288 h 18288"/>
              <a:gd name="csX18" fmla="*/ 0 w 530352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3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C51C-0D74-9B41-1F58-5380F0A8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5CF7B-AA8D-4144-8439-439E8F953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Sun emits solar wind at the Earth </a:t>
            </a:r>
          </a:p>
          <a:p>
            <a:r>
              <a:rPr lang="en-US" dirty="0"/>
              <a:t>Can create geomagnetic storms affecting power grids, satellites, and communication systems. </a:t>
            </a:r>
          </a:p>
          <a:p>
            <a:r>
              <a:rPr lang="en-US" dirty="0"/>
              <a:t>Useful for operators to receive "early warning" about potential solar storms.</a:t>
            </a:r>
          </a:p>
          <a:p>
            <a:r>
              <a:rPr lang="en-US" dirty="0"/>
              <a:t>This project: predict solar storms from incoming solar wind data (~45 minute lead time)</a:t>
            </a:r>
          </a:p>
        </p:txBody>
      </p:sp>
    </p:spTree>
    <p:extLst>
      <p:ext uri="{BB962C8B-B14F-4D97-AF65-F5344CB8AC3E}">
        <p14:creationId xmlns:p14="http://schemas.microsoft.com/office/powerpoint/2010/main" val="28368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CEAA-CDEB-8B21-8A06-F8A8C809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095D4-C435-82EC-596D-FCFD1A895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573"/>
            <a:ext cx="10515600" cy="4351338"/>
          </a:xfrm>
        </p:spPr>
        <p:txBody>
          <a:bodyPr/>
          <a:lstStyle/>
          <a:p>
            <a:r>
              <a:rPr lang="en-US" dirty="0"/>
              <a:t>Solar storms do not happen all the time </a:t>
            </a:r>
            <a:r>
              <a:rPr lang="en-US" b="1" dirty="0"/>
              <a:t>→</a:t>
            </a:r>
            <a:r>
              <a:rPr lang="en-US" dirty="0"/>
              <a:t> rare event prediction</a:t>
            </a:r>
          </a:p>
          <a:p>
            <a:r>
              <a:rPr lang="en-US" dirty="0"/>
              <a:t>Weather is simply not 100% detectable</a:t>
            </a:r>
          </a:p>
          <a:p>
            <a:r>
              <a:rPr lang="en-US" dirty="0"/>
              <a:t>False positive (false alarm) is more desirable than false negative </a:t>
            </a:r>
            <a:r>
              <a:rPr lang="en-US" b="1" dirty="0"/>
              <a:t>→</a:t>
            </a:r>
            <a:r>
              <a:rPr lang="en-US" dirty="0"/>
              <a:t> prefer to maximize recall subject to fixed precision.</a:t>
            </a:r>
          </a:p>
          <a:p>
            <a:r>
              <a:rPr lang="en-US" dirty="0"/>
              <a:t>Weather prediction goals: recall &gt; .60, precision &gt; .30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27DE0-0E27-1228-E304-2CF4314A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312" y="4098158"/>
            <a:ext cx="7772400" cy="273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5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66E1-E2C3-3697-C02B-89C0E250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36FB6-AAA7-EF10-E5D7-A6C2DC3F5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NASA and NOAA provide data from satellites situated between the Earth and the Sun.</a:t>
            </a:r>
          </a:p>
          <a:p>
            <a:r>
              <a:rPr lang="en-US" dirty="0"/>
              <a:t>NASA: historical time-aligned data</a:t>
            </a:r>
          </a:p>
          <a:p>
            <a:r>
              <a:rPr lang="en-US" dirty="0"/>
              <a:t>NOAA: real time solar wind data</a:t>
            </a:r>
          </a:p>
        </p:txBody>
      </p:sp>
      <p:pic>
        <p:nvPicPr>
          <p:cNvPr id="4" name="Picture 3" descr="Artist's rendering of DSCOVR satellite between the Earth and sun. ">
            <a:extLst>
              <a:ext uri="{FF2B5EF4-FFF2-40B4-BE49-F238E27FC236}">
                <a16:creationId xmlns:a16="http://schemas.microsoft.com/office/drawing/2014/main" id="{7D802923-1A2D-717A-EFA7-D0E7E1A26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096" y="2590947"/>
            <a:ext cx="5445685" cy="326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9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626C-51DF-7766-9AA8-8B1C4C44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NASA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54EB-B65B-857E-0D88-48DFF712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NASA data is well-documented, but has some eccentricities that require basic cleaning</a:t>
            </a:r>
          </a:p>
          <a:p>
            <a:r>
              <a:rPr lang="en-US" dirty="0"/>
              <a:t>Satellite data can have gaps, so data must be appropriately cleaned </a:t>
            </a:r>
          </a:p>
          <a:p>
            <a:r>
              <a:rPr lang="en-US" dirty="0"/>
              <a:t>Input features are hourly, but output response is a rolling 3 hour average</a:t>
            </a:r>
          </a:p>
        </p:txBody>
      </p:sp>
    </p:spTree>
    <p:extLst>
      <p:ext uri="{BB962C8B-B14F-4D97-AF65-F5344CB8AC3E}">
        <p14:creationId xmlns:p14="http://schemas.microsoft.com/office/powerpoint/2010/main" val="217388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B57B-3067-55D4-D1C7-DC02F140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0D33D-B722-BB1A-DE4C-10A806F33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Physics informed features: </a:t>
            </a:r>
          </a:p>
          <a:p>
            <a:pPr lvl="1"/>
            <a:r>
              <a:rPr lang="en-US" dirty="0"/>
              <a:t>Angle between solar wind and Earth's magnetic field</a:t>
            </a:r>
          </a:p>
          <a:p>
            <a:pPr lvl="1"/>
            <a:r>
              <a:rPr lang="en-US" dirty="0"/>
              <a:t>Energy flux</a:t>
            </a:r>
          </a:p>
          <a:p>
            <a:pPr lvl="1"/>
            <a:r>
              <a:rPr lang="en-US" dirty="0"/>
              <a:t>Rolling averages of measurements</a:t>
            </a:r>
          </a:p>
          <a:p>
            <a:pPr lvl="1"/>
            <a:r>
              <a:rPr lang="en-US" dirty="0"/>
              <a:t>Variation in magnetic orientation of solar wind</a:t>
            </a:r>
          </a:p>
          <a:p>
            <a:pPr lvl="1"/>
            <a:r>
              <a:rPr lang="en-US" dirty="0"/>
              <a:t>"Newell coupling" </a:t>
            </a:r>
          </a:p>
          <a:p>
            <a:r>
              <a:rPr lang="en-US" dirty="0"/>
              <a:t>Some features were highly correlated, so they were dropped to improve model performance</a:t>
            </a:r>
          </a:p>
          <a:p>
            <a:pPr lvl="1"/>
            <a:r>
              <a:rPr lang="en-US" dirty="0"/>
              <a:t>Many engineered rolling averages were too highly correlated with raw features.</a:t>
            </a:r>
          </a:p>
          <a:p>
            <a:pPr lvl="1"/>
            <a:r>
              <a:rPr lang="en-US" dirty="0"/>
              <a:t>Features encoding solar wind vector had some redundancy and so a few were dropped.</a:t>
            </a:r>
          </a:p>
        </p:txBody>
      </p:sp>
    </p:spTree>
    <p:extLst>
      <p:ext uri="{BB962C8B-B14F-4D97-AF65-F5344CB8AC3E}">
        <p14:creationId xmlns:p14="http://schemas.microsoft.com/office/powerpoint/2010/main" val="267596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77A0-780C-5748-03A3-CF49654F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9E8AB-E49A-A140-788B-D3E648F7C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Time series data</a:t>
            </a:r>
          </a:p>
          <a:p>
            <a:pPr lvl="1"/>
            <a:r>
              <a:rPr lang="en-US" dirty="0"/>
              <a:t>Used 20 years of historical data</a:t>
            </a:r>
          </a:p>
          <a:p>
            <a:pPr lvl="1"/>
            <a:r>
              <a:rPr lang="en-US" dirty="0"/>
              <a:t>Cross-validation with 1 year folds</a:t>
            </a:r>
          </a:p>
          <a:p>
            <a:r>
              <a:rPr lang="en-US" dirty="0"/>
              <a:t>Weather prediction domain</a:t>
            </a:r>
          </a:p>
          <a:p>
            <a:pPr lvl="1"/>
            <a:r>
              <a:rPr lang="en-US" dirty="0"/>
              <a:t>Maximize recall with precision &gt;= .30</a:t>
            </a:r>
          </a:p>
          <a:p>
            <a:pPr lvl="1"/>
            <a:r>
              <a:rPr lang="en-US" dirty="0"/>
              <a:t>Maintain realistic expectations for results</a:t>
            </a:r>
          </a:p>
          <a:p>
            <a:pPr lvl="1"/>
            <a:r>
              <a:rPr lang="en-US" dirty="0"/>
              <a:t>Adjust probability threshold on models</a:t>
            </a:r>
          </a:p>
          <a:p>
            <a:r>
              <a:rPr lang="en-US" dirty="0"/>
              <a:t>Hyperparameter tuning using </a:t>
            </a:r>
            <a:r>
              <a:rPr lang="en-US" dirty="0" err="1"/>
              <a:t>Optuna</a:t>
            </a:r>
            <a:endParaRPr lang="en-US" dirty="0"/>
          </a:p>
          <a:p>
            <a:r>
              <a:rPr lang="en-US" dirty="0"/>
              <a:t>Baselines</a:t>
            </a:r>
          </a:p>
          <a:p>
            <a:pPr lvl="1"/>
            <a:r>
              <a:rPr lang="en-US" dirty="0"/>
              <a:t>High precision 0 recall: Dummy classifier always says "No Storm"</a:t>
            </a:r>
          </a:p>
          <a:p>
            <a:pPr lvl="1"/>
            <a:r>
              <a:rPr lang="en-US" dirty="0"/>
              <a:t>Other standard models without feature engineering: &lt; 0.3 recall and &lt; 0.6 precision </a:t>
            </a:r>
          </a:p>
        </p:txBody>
      </p:sp>
    </p:spTree>
    <p:extLst>
      <p:ext uri="{BB962C8B-B14F-4D97-AF65-F5344CB8AC3E}">
        <p14:creationId xmlns:p14="http://schemas.microsoft.com/office/powerpoint/2010/main" val="60001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53901-B271-8387-BA37-6EBCAD2C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</a:t>
            </a:r>
            <a:r>
              <a:rPr lang="en-US" dirty="0" err="1"/>
              <a:t>XGBClassifier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40AAD-D18E-43C8-D634-628B7016F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ROC-AUC        : 0.9620</a:t>
            </a:r>
          </a:p>
          <a:p>
            <a:r>
              <a:rPr lang="en-US" dirty="0"/>
              <a:t>Avg Precision  : 0.5706</a:t>
            </a:r>
          </a:p>
          <a:p>
            <a:r>
              <a:rPr lang="en-US" dirty="0"/>
              <a:t>Brier Score    : 0.0536</a:t>
            </a:r>
          </a:p>
          <a:p>
            <a:r>
              <a:rPr lang="en-US" dirty="0"/>
              <a:t>Overall Precision: 0.3260</a:t>
            </a:r>
          </a:p>
          <a:p>
            <a:r>
              <a:rPr lang="en-US" dirty="0"/>
              <a:t>Overall Recall : 0.7517</a:t>
            </a:r>
          </a:p>
        </p:txBody>
      </p:sp>
    </p:spTree>
    <p:extLst>
      <p:ext uri="{BB962C8B-B14F-4D97-AF65-F5344CB8AC3E}">
        <p14:creationId xmlns:p14="http://schemas.microsoft.com/office/powerpoint/2010/main" val="367509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5A8C-BC50-E9E6-811B-C1B4900E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6D2E6D-F72A-15BE-574B-806174EC1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068" y="-646362"/>
            <a:ext cx="7645864" cy="6899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C42D77-2131-6F91-E8ED-45CBE4BA61D8}"/>
              </a:ext>
            </a:extLst>
          </p:cNvPr>
          <p:cNvSpPr txBox="1"/>
          <p:nvPr/>
        </p:nvSpPr>
        <p:spPr>
          <a:xfrm>
            <a:off x="4355025" y="6393050"/>
            <a:ext cx="260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model-</a:t>
            </a:r>
            <a:r>
              <a:rPr lang="en-US" dirty="0" err="1"/>
              <a:t>selection.ipynb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30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5978-D395-757C-6C9A-40581A75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0363B-0DE3-E1B8-E3AA-CAF97F46C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 give many false positives</a:t>
            </a:r>
          </a:p>
          <a:p>
            <a:r>
              <a:rPr lang="en-US" dirty="0"/>
              <a:t>Further time horizon predictions not realistic without additional data sources</a:t>
            </a:r>
          </a:p>
          <a:p>
            <a:pPr lvl="1"/>
            <a:r>
              <a:rPr lang="en-US" dirty="0"/>
              <a:t>Optical data from sun</a:t>
            </a:r>
          </a:p>
          <a:p>
            <a:r>
              <a:rPr lang="en-US" dirty="0"/>
              <a:t>Model could be deployed with "online" data from NOAA</a:t>
            </a:r>
          </a:p>
          <a:p>
            <a:pPr lvl="1"/>
            <a:r>
              <a:rPr lang="en-US" dirty="0"/>
              <a:t>Data ingestion built, but online deployment not developed for lack of time</a:t>
            </a:r>
          </a:p>
          <a:p>
            <a:r>
              <a:rPr lang="en-US" dirty="0"/>
              <a:t>Business use case</a:t>
            </a:r>
          </a:p>
          <a:p>
            <a:pPr lvl="1"/>
            <a:r>
              <a:rPr lang="en-US" dirty="0"/>
              <a:t>Provide advanced warning of potential geomagnetic storm to grid operators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4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413</Words>
  <Application>Microsoft Macintosh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Solar Storm Prediction</vt:lpstr>
      <vt:lpstr>Summary</vt:lpstr>
      <vt:lpstr>Problem setup</vt:lpstr>
      <vt:lpstr>Data sources</vt:lpstr>
      <vt:lpstr>NASA Data</vt:lpstr>
      <vt:lpstr>Feature selection</vt:lpstr>
      <vt:lpstr>Model Selection</vt:lpstr>
      <vt:lpstr>Results (XGBClassifier)</vt:lpstr>
      <vt:lpstr>PowerPoint Presentation</vt:lpstr>
      <vt:lpstr>Limitations and potential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Seelinger, George H (ghs9ae)</dc:creator>
  <cp:lastModifiedBy>Seelinger, George H (ghs9ae)</cp:lastModifiedBy>
  <cp:revision>2</cp:revision>
  <dcterms:created xsi:type="dcterms:W3CDTF">2026-03-22T02:46:20Z</dcterms:created>
  <dcterms:modified xsi:type="dcterms:W3CDTF">2026-03-22T03:33:22Z</dcterms:modified>
</cp:coreProperties>
</file>