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27"/>
    <p:restoredTop sz="94681"/>
  </p:normalViewPr>
  <p:slideViewPr>
    <p:cSldViewPr snapToGrid="0">
      <p:cViewPr varScale="1">
        <p:scale>
          <a:sx n="83" d="100"/>
          <a:sy n="83" d="100"/>
        </p:scale>
        <p:origin x="216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46A1-5362-28FF-3AA2-25E04B7D1F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345DCB-3EB7-53BC-180E-BF97154C9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7CA5-9DFF-2D64-3B0A-65EBE26A9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528FB-64F8-7856-C02D-69D0D4EBB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19A066-2FB1-3BB0-94EF-015569190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915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C110-66AF-A1DE-889D-D49C26A3C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DDFCE-E9F5-7577-5087-84E9A4D5A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F40B42-BA29-7E7B-AFEE-99CDE55B5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79995-E165-F954-6EFA-9063A7F2E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8F4DE-E8B8-32CF-9E74-DE99C92E2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90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F635-6AC2-5569-EBA8-DB52B28DC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80DFD9-314B-9229-57F9-55E93968C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5AB09-B9BA-606A-BC8E-7C7BE5C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9C035-3C5E-FE36-5C9D-239744DA9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38739-82BC-B4B0-EBBF-3EAF212F5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89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08815-C735-6849-B9F6-D6D69F28D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4C820-9637-7237-D858-019348893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2E0D3B-6E0A-E7AE-9B7D-CCE30FF973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7CD34-1908-4F6B-69BB-9B8D444C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75774-2938-E99D-AF8D-7F8D083B1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AF37AF-2E4F-68FB-8C01-D344885D0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360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45585-8E52-AC46-03CE-F93FB194B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A5D9C-2FEB-CAD4-AD8F-44F3B6BD2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11DF5-B5A7-9329-C16E-63A8D8311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E08EB8-B734-5789-DE04-4391E7F8E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FFDD29-9EC1-048D-AEF4-C84269D77F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31EECB-D9D3-C5F7-414D-8B7423BB1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D38328-DF05-EA37-D8DB-2164D875F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41D8D7-D438-8E13-CCEA-23775985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799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A217-186B-4799-8406-D03FB3336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D75C58-9D62-A838-FD40-3CCB9ACD9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7FF536-41CE-F43F-2F1B-CFA45ABA0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D289-4602-40C1-60C5-7B29BEFEC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229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03785C-930D-CA98-305E-22536412C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A93E5B-C27C-D560-DFAC-BBB51080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4FFBE-FC2A-D632-BBF2-54509678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6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08A4A-57FC-9B7C-C895-9118591A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F2899E-6B02-AFA8-52F2-8E755BF4C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F1BAB-2000-6514-5616-AA33C6C150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E08B00-5FDA-974D-DD57-C4DB02810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4ED1FA-05D3-9327-4824-82D52445E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BF86D-D18E-4821-DD7B-1BCA57D07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56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2C1A0-35CC-D263-3A84-2FA38FC35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CCF3AD-8187-BBDB-8A4A-3C9DC67B52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0124C5-52F4-8711-EABD-11DDD35336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63CF0A-BA32-43C1-65E5-0A0625B2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D26A4F-E18B-B434-9550-4BCFFE33F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0D57D1-1592-C721-5B7C-28FDA2075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40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648F-9350-6BF2-5ED6-AE60C7F83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5EEE80-28A0-EC8D-9BFD-6AD13284C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8A1C8-0DD4-16BD-0DDB-996FF06D1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02902-8C0A-8635-C246-5F64A5BEB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7FE09-96AE-E962-AA40-58D8FB1CE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402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FA41C9-0D2A-3E94-C6D2-BF62C6111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FB6400-8DC0-B3E0-3051-B6979234A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F354F-E51A-B559-C2DF-2077C7BDB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D4C72E-A467-2854-40D1-B89C43690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69616-49F5-54D2-4624-995FAA0AB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895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F39ED9-84C8-DC86-819F-899FD1C9D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A72EFE-03E6-F618-9990-8F5C01F66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0BC31-73A9-4462-5A1B-4E74D376B8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8F159B-C9C1-FD46-A557-E92908D6FED3}" type="datetimeFigureOut">
              <a:rPr lang="en-US" smtClean="0"/>
              <a:t>3/21/26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10001-8175-8B9B-4553-CAB574D939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C3255-CEA2-5DCC-51CF-C1CBE004F9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50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F12E7CC5-C78B-4EBD-9565-3FA00FAA6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Sun">
            <a:extLst>
              <a:ext uri="{FF2B5EF4-FFF2-40B4-BE49-F238E27FC236}">
                <a16:creationId xmlns:a16="http://schemas.microsoft.com/office/drawing/2014/main" id="{8A490BD3-3DFE-8836-33B2-9D23BBBDD3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4988" y="1744515"/>
            <a:ext cx="3368969" cy="3368969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4529A5-F675-429F-8044-01372BB134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9992" y="0"/>
            <a:ext cx="7562008" cy="6858000"/>
          </a:xfrm>
          <a:custGeom>
            <a:avLst/>
            <a:gdLst>
              <a:gd name="connsiteX0" fmla="*/ 7529613 w 7529613"/>
              <a:gd name="connsiteY0" fmla="*/ 0 h 6858000"/>
              <a:gd name="connsiteX1" fmla="*/ 1222331 w 7529613"/>
              <a:gd name="connsiteY1" fmla="*/ 0 h 6858000"/>
              <a:gd name="connsiteX2" fmla="*/ 1126483 w 7529613"/>
              <a:gd name="connsiteY2" fmla="*/ 148742 h 6858000"/>
              <a:gd name="connsiteX3" fmla="*/ 767554 w 7529613"/>
              <a:gd name="connsiteY3" fmla="*/ 819975 h 6858000"/>
              <a:gd name="connsiteX4" fmla="*/ 742103 w 7529613"/>
              <a:gd name="connsiteY4" fmla="*/ 854514 h 6858000"/>
              <a:gd name="connsiteX5" fmla="*/ 785881 w 7529613"/>
              <a:gd name="connsiteY5" fmla="*/ 750263 h 6858000"/>
              <a:gd name="connsiteX6" fmla="*/ 978978 w 7529613"/>
              <a:gd name="connsiteY6" fmla="*/ 331786 h 6858000"/>
              <a:gd name="connsiteX7" fmla="*/ 1155717 w 7529613"/>
              <a:gd name="connsiteY7" fmla="*/ 0 h 6858000"/>
              <a:gd name="connsiteX8" fmla="*/ 1098249 w 7529613"/>
              <a:gd name="connsiteY8" fmla="*/ 0 h 6858000"/>
              <a:gd name="connsiteX9" fmla="*/ 991458 w 7529613"/>
              <a:gd name="connsiteY9" fmla="*/ 196614 h 6858000"/>
              <a:gd name="connsiteX10" fmla="*/ 493941 w 7529613"/>
              <a:gd name="connsiteY10" fmla="*/ 1371196 h 6858000"/>
              <a:gd name="connsiteX11" fmla="*/ 46485 w 7529613"/>
              <a:gd name="connsiteY11" fmla="*/ 3331516 h 6858000"/>
              <a:gd name="connsiteX12" fmla="*/ 12252 w 7529613"/>
              <a:gd name="connsiteY12" fmla="*/ 4357388 h 6858000"/>
              <a:gd name="connsiteX13" fmla="*/ 170821 w 7529613"/>
              <a:gd name="connsiteY13" fmla="*/ 5552906 h 6858000"/>
              <a:gd name="connsiteX14" fmla="*/ 537265 w 7529613"/>
              <a:gd name="connsiteY14" fmla="*/ 6828295 h 6858000"/>
              <a:gd name="connsiteX15" fmla="*/ 549692 w 7529613"/>
              <a:gd name="connsiteY15" fmla="*/ 6858000 h 6858000"/>
              <a:gd name="connsiteX16" fmla="*/ 602234 w 7529613"/>
              <a:gd name="connsiteY16" fmla="*/ 6858000 h 6858000"/>
              <a:gd name="connsiteX17" fmla="*/ 595414 w 7529613"/>
              <a:gd name="connsiteY17" fmla="*/ 6841549 h 6858000"/>
              <a:gd name="connsiteX18" fmla="*/ 364260 w 7529613"/>
              <a:gd name="connsiteY18" fmla="*/ 6142729 h 6858000"/>
              <a:gd name="connsiteX19" fmla="*/ 213071 w 7529613"/>
              <a:gd name="connsiteY19" fmla="*/ 5513923 h 6858000"/>
              <a:gd name="connsiteX20" fmla="*/ 211290 w 7529613"/>
              <a:gd name="connsiteY20" fmla="*/ 5480401 h 6858000"/>
              <a:gd name="connsiteX21" fmla="*/ 311446 w 7529613"/>
              <a:gd name="connsiteY21" fmla="*/ 5830359 h 6858000"/>
              <a:gd name="connsiteX22" fmla="*/ 622963 w 7529613"/>
              <a:gd name="connsiteY22" fmla="*/ 6670527 h 6858000"/>
              <a:gd name="connsiteX23" fmla="*/ 710464 w 7529613"/>
              <a:gd name="connsiteY23" fmla="*/ 6858000 h 6858000"/>
              <a:gd name="connsiteX24" fmla="*/ 7529613 w 7529613"/>
              <a:gd name="connsiteY2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529613" h="6858000">
                <a:moveTo>
                  <a:pt x="7529613" y="0"/>
                </a:moveTo>
                <a:lnTo>
                  <a:pt x="1222331" y="0"/>
                </a:lnTo>
                <a:lnTo>
                  <a:pt x="1126483" y="148742"/>
                </a:lnTo>
                <a:cubicBezTo>
                  <a:pt x="995323" y="365513"/>
                  <a:pt x="876174" y="589569"/>
                  <a:pt x="767554" y="819975"/>
                </a:cubicBezTo>
                <a:cubicBezTo>
                  <a:pt x="762210" y="833492"/>
                  <a:pt x="753441" y="845393"/>
                  <a:pt x="742103" y="854514"/>
                </a:cubicBezTo>
                <a:cubicBezTo>
                  <a:pt x="756737" y="819849"/>
                  <a:pt x="770991" y="784928"/>
                  <a:pt x="785881" y="750263"/>
                </a:cubicBezTo>
                <a:cubicBezTo>
                  <a:pt x="846713" y="608712"/>
                  <a:pt x="910948" y="469145"/>
                  <a:pt x="978978" y="331786"/>
                </a:cubicBezTo>
                <a:lnTo>
                  <a:pt x="1155717" y="0"/>
                </a:lnTo>
                <a:lnTo>
                  <a:pt x="1098249" y="0"/>
                </a:lnTo>
                <a:lnTo>
                  <a:pt x="991458" y="196614"/>
                </a:lnTo>
                <a:cubicBezTo>
                  <a:pt x="797017" y="573253"/>
                  <a:pt x="633548" y="966066"/>
                  <a:pt x="493941" y="1371196"/>
                </a:cubicBezTo>
                <a:cubicBezTo>
                  <a:pt x="276630" y="2007265"/>
                  <a:pt x="126659" y="2664286"/>
                  <a:pt x="46485" y="3331516"/>
                </a:cubicBezTo>
                <a:cubicBezTo>
                  <a:pt x="4488" y="3672965"/>
                  <a:pt x="-14219" y="4013908"/>
                  <a:pt x="12252" y="4357388"/>
                </a:cubicBezTo>
                <a:cubicBezTo>
                  <a:pt x="43558" y="4758899"/>
                  <a:pt x="90773" y="5157998"/>
                  <a:pt x="170821" y="5552906"/>
                </a:cubicBezTo>
                <a:cubicBezTo>
                  <a:pt x="259109" y="5988893"/>
                  <a:pt x="378967" y="6414594"/>
                  <a:pt x="537265" y="6828295"/>
                </a:cubicBezTo>
                <a:lnTo>
                  <a:pt x="549692" y="6858000"/>
                </a:lnTo>
                <a:lnTo>
                  <a:pt x="602234" y="6858000"/>
                </a:lnTo>
                <a:lnTo>
                  <a:pt x="595414" y="6841549"/>
                </a:lnTo>
                <a:cubicBezTo>
                  <a:pt x="507884" y="6614016"/>
                  <a:pt x="431296" y="6380817"/>
                  <a:pt x="364260" y="6142729"/>
                </a:cubicBezTo>
                <a:cubicBezTo>
                  <a:pt x="305974" y="5935370"/>
                  <a:pt x="262958" y="5723695"/>
                  <a:pt x="213071" y="5513923"/>
                </a:cubicBezTo>
                <a:cubicBezTo>
                  <a:pt x="211892" y="5502788"/>
                  <a:pt x="211299" y="5491601"/>
                  <a:pt x="211290" y="5480401"/>
                </a:cubicBezTo>
                <a:cubicBezTo>
                  <a:pt x="247814" y="5607635"/>
                  <a:pt x="276958" y="5719759"/>
                  <a:pt x="311446" y="5830359"/>
                </a:cubicBezTo>
                <a:cubicBezTo>
                  <a:pt x="401357" y="6118381"/>
                  <a:pt x="505060" y="6398531"/>
                  <a:pt x="622963" y="6670527"/>
                </a:cubicBezTo>
                <a:lnTo>
                  <a:pt x="710464" y="6858000"/>
                </a:lnTo>
                <a:lnTo>
                  <a:pt x="7529613" y="6858000"/>
                </a:lnTo>
                <a:close/>
              </a:path>
            </a:pathLst>
          </a:custGeom>
          <a:solidFill>
            <a:schemeClr val="accent2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772D1-A752-EBCF-2DC0-17122DA83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2061" y="762538"/>
            <a:ext cx="5649349" cy="3199862"/>
          </a:xfrm>
        </p:spPr>
        <p:txBody>
          <a:bodyPr anchor="b">
            <a:normAutofit/>
          </a:bodyPr>
          <a:lstStyle/>
          <a:p>
            <a:pPr algn="l"/>
            <a:r>
              <a:rPr lang="en-US" sz="6600">
                <a:solidFill>
                  <a:srgbClr val="FFFFFF"/>
                </a:solidFill>
              </a:rPr>
              <a:t>Solar Storm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9697E-C52C-B2E7-DC64-9C2078083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2061" y="4312561"/>
            <a:ext cx="5649349" cy="1687815"/>
          </a:xfrm>
        </p:spPr>
        <p:txBody>
          <a:bodyPr anchor="t">
            <a:normAutofit/>
          </a:bodyPr>
          <a:lstStyle/>
          <a:p>
            <a:pPr algn="l"/>
            <a:r>
              <a:rPr lang="en-US">
                <a:solidFill>
                  <a:srgbClr val="FFFFFF"/>
                </a:solidFill>
              </a:rPr>
              <a:t>George H. Seelinger</a:t>
            </a:r>
          </a:p>
          <a:p>
            <a:pPr algn="l"/>
            <a:r>
              <a:rPr lang="en-US">
                <a:solidFill>
                  <a:srgbClr val="FFFFFF"/>
                </a:solidFill>
              </a:rPr>
              <a:t>Erdos Institute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63DAB858-5A0C-4AFF-AAC6-705EDF8DB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17682" y="4043302"/>
            <a:ext cx="5303520" cy="18288"/>
          </a:xfrm>
          <a:custGeom>
            <a:avLst/>
            <a:gdLst>
              <a:gd name="csX0" fmla="*/ 0 w 5303520"/>
              <a:gd name="csY0" fmla="*/ 0 h 18288"/>
              <a:gd name="csX1" fmla="*/ 556870 w 5303520"/>
              <a:gd name="csY1" fmla="*/ 0 h 18288"/>
              <a:gd name="csX2" fmla="*/ 1272845 w 5303520"/>
              <a:gd name="csY2" fmla="*/ 0 h 18288"/>
              <a:gd name="csX3" fmla="*/ 1882750 w 5303520"/>
              <a:gd name="csY3" fmla="*/ 0 h 18288"/>
              <a:gd name="csX4" fmla="*/ 2439619 w 5303520"/>
              <a:gd name="csY4" fmla="*/ 0 h 18288"/>
              <a:gd name="csX5" fmla="*/ 3155594 w 5303520"/>
              <a:gd name="csY5" fmla="*/ 0 h 18288"/>
              <a:gd name="csX6" fmla="*/ 3818534 w 5303520"/>
              <a:gd name="csY6" fmla="*/ 0 h 18288"/>
              <a:gd name="csX7" fmla="*/ 4481474 w 5303520"/>
              <a:gd name="csY7" fmla="*/ 0 h 18288"/>
              <a:gd name="csX8" fmla="*/ 5303520 w 5303520"/>
              <a:gd name="csY8" fmla="*/ 0 h 18288"/>
              <a:gd name="csX9" fmla="*/ 5303520 w 5303520"/>
              <a:gd name="csY9" fmla="*/ 18288 h 18288"/>
              <a:gd name="csX10" fmla="*/ 4746650 w 5303520"/>
              <a:gd name="csY10" fmla="*/ 18288 h 18288"/>
              <a:gd name="csX11" fmla="*/ 4242816 w 5303520"/>
              <a:gd name="csY11" fmla="*/ 18288 h 18288"/>
              <a:gd name="csX12" fmla="*/ 3526841 w 5303520"/>
              <a:gd name="csY12" fmla="*/ 18288 h 18288"/>
              <a:gd name="csX13" fmla="*/ 2969971 w 5303520"/>
              <a:gd name="csY13" fmla="*/ 18288 h 18288"/>
              <a:gd name="csX14" fmla="*/ 2253996 w 5303520"/>
              <a:gd name="csY14" fmla="*/ 18288 h 18288"/>
              <a:gd name="csX15" fmla="*/ 1484986 w 5303520"/>
              <a:gd name="csY15" fmla="*/ 18288 h 18288"/>
              <a:gd name="csX16" fmla="*/ 875081 w 5303520"/>
              <a:gd name="csY16" fmla="*/ 18288 h 18288"/>
              <a:gd name="csX17" fmla="*/ 0 w 5303520"/>
              <a:gd name="csY17" fmla="*/ 18288 h 18288"/>
              <a:gd name="csX18" fmla="*/ 0 w 530352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303520" h="18288" fill="none" extrusionOk="0">
                <a:moveTo>
                  <a:pt x="0" y="0"/>
                </a:moveTo>
                <a:cubicBezTo>
                  <a:pt x="191807" y="-19560"/>
                  <a:pt x="373092" y="14032"/>
                  <a:pt x="556870" y="0"/>
                </a:cubicBezTo>
                <a:cubicBezTo>
                  <a:pt x="740648" y="-14032"/>
                  <a:pt x="1109645" y="5886"/>
                  <a:pt x="1272845" y="0"/>
                </a:cubicBezTo>
                <a:cubicBezTo>
                  <a:pt x="1436045" y="-5886"/>
                  <a:pt x="1723352" y="-21940"/>
                  <a:pt x="1882750" y="0"/>
                </a:cubicBezTo>
                <a:cubicBezTo>
                  <a:pt x="2042148" y="21940"/>
                  <a:pt x="2308812" y="-23394"/>
                  <a:pt x="2439619" y="0"/>
                </a:cubicBezTo>
                <a:cubicBezTo>
                  <a:pt x="2570426" y="23394"/>
                  <a:pt x="2936980" y="-3315"/>
                  <a:pt x="3155594" y="0"/>
                </a:cubicBezTo>
                <a:cubicBezTo>
                  <a:pt x="3374208" y="3315"/>
                  <a:pt x="3528026" y="24519"/>
                  <a:pt x="3818534" y="0"/>
                </a:cubicBezTo>
                <a:cubicBezTo>
                  <a:pt x="4109042" y="-24519"/>
                  <a:pt x="4161759" y="-18720"/>
                  <a:pt x="4481474" y="0"/>
                </a:cubicBezTo>
                <a:cubicBezTo>
                  <a:pt x="4801189" y="18720"/>
                  <a:pt x="5011126" y="27308"/>
                  <a:pt x="5303520" y="0"/>
                </a:cubicBezTo>
                <a:cubicBezTo>
                  <a:pt x="5304050" y="6954"/>
                  <a:pt x="5304254" y="12839"/>
                  <a:pt x="5303520" y="18288"/>
                </a:cubicBezTo>
                <a:cubicBezTo>
                  <a:pt x="5132450" y="501"/>
                  <a:pt x="4953391" y="18714"/>
                  <a:pt x="4746650" y="18288"/>
                </a:cubicBezTo>
                <a:cubicBezTo>
                  <a:pt x="4539909" y="17863"/>
                  <a:pt x="4361261" y="7168"/>
                  <a:pt x="4242816" y="18288"/>
                </a:cubicBezTo>
                <a:cubicBezTo>
                  <a:pt x="4124371" y="29408"/>
                  <a:pt x="3754907" y="21026"/>
                  <a:pt x="3526841" y="18288"/>
                </a:cubicBezTo>
                <a:cubicBezTo>
                  <a:pt x="3298775" y="15550"/>
                  <a:pt x="3164473" y="3913"/>
                  <a:pt x="2969971" y="18288"/>
                </a:cubicBezTo>
                <a:cubicBezTo>
                  <a:pt x="2775469" y="32664"/>
                  <a:pt x="2608536" y="2050"/>
                  <a:pt x="2253996" y="18288"/>
                </a:cubicBezTo>
                <a:cubicBezTo>
                  <a:pt x="1899456" y="34526"/>
                  <a:pt x="1752044" y="28789"/>
                  <a:pt x="1484986" y="18288"/>
                </a:cubicBezTo>
                <a:cubicBezTo>
                  <a:pt x="1217928" y="7788"/>
                  <a:pt x="1060609" y="-4784"/>
                  <a:pt x="875081" y="18288"/>
                </a:cubicBezTo>
                <a:cubicBezTo>
                  <a:pt x="689553" y="41360"/>
                  <a:pt x="188846" y="25228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303520" h="18288" stroke="0" extrusionOk="0">
                <a:moveTo>
                  <a:pt x="0" y="0"/>
                </a:moveTo>
                <a:cubicBezTo>
                  <a:pt x="181149" y="2038"/>
                  <a:pt x="442175" y="-27591"/>
                  <a:pt x="609905" y="0"/>
                </a:cubicBezTo>
                <a:cubicBezTo>
                  <a:pt x="777636" y="27591"/>
                  <a:pt x="947554" y="-24271"/>
                  <a:pt x="1113739" y="0"/>
                </a:cubicBezTo>
                <a:cubicBezTo>
                  <a:pt x="1279924" y="24271"/>
                  <a:pt x="1721318" y="-30891"/>
                  <a:pt x="1882750" y="0"/>
                </a:cubicBezTo>
                <a:cubicBezTo>
                  <a:pt x="2044182" y="30891"/>
                  <a:pt x="2270822" y="-14002"/>
                  <a:pt x="2492654" y="0"/>
                </a:cubicBezTo>
                <a:cubicBezTo>
                  <a:pt x="2714486" y="14002"/>
                  <a:pt x="2822632" y="27292"/>
                  <a:pt x="3102559" y="0"/>
                </a:cubicBezTo>
                <a:cubicBezTo>
                  <a:pt x="3382487" y="-27292"/>
                  <a:pt x="3489743" y="-31235"/>
                  <a:pt x="3871570" y="0"/>
                </a:cubicBezTo>
                <a:cubicBezTo>
                  <a:pt x="4253397" y="31235"/>
                  <a:pt x="4301475" y="22800"/>
                  <a:pt x="4428439" y="0"/>
                </a:cubicBezTo>
                <a:cubicBezTo>
                  <a:pt x="4555403" y="-22800"/>
                  <a:pt x="5018410" y="43534"/>
                  <a:pt x="5303520" y="0"/>
                </a:cubicBezTo>
                <a:cubicBezTo>
                  <a:pt x="5302837" y="5414"/>
                  <a:pt x="5302800" y="12510"/>
                  <a:pt x="5303520" y="18288"/>
                </a:cubicBezTo>
                <a:cubicBezTo>
                  <a:pt x="5082751" y="18456"/>
                  <a:pt x="4993374" y="24100"/>
                  <a:pt x="4746650" y="18288"/>
                </a:cubicBezTo>
                <a:cubicBezTo>
                  <a:pt x="4499926" y="12477"/>
                  <a:pt x="4368648" y="-7187"/>
                  <a:pt x="4083710" y="18288"/>
                </a:cubicBezTo>
                <a:cubicBezTo>
                  <a:pt x="3798772" y="43763"/>
                  <a:pt x="3729434" y="5501"/>
                  <a:pt x="3473806" y="18288"/>
                </a:cubicBezTo>
                <a:cubicBezTo>
                  <a:pt x="3218178" y="31075"/>
                  <a:pt x="3056855" y="30003"/>
                  <a:pt x="2704795" y="18288"/>
                </a:cubicBezTo>
                <a:cubicBezTo>
                  <a:pt x="2352735" y="6573"/>
                  <a:pt x="2319447" y="29257"/>
                  <a:pt x="1935785" y="18288"/>
                </a:cubicBezTo>
                <a:cubicBezTo>
                  <a:pt x="1552123" y="7320"/>
                  <a:pt x="1532619" y="-467"/>
                  <a:pt x="1378915" y="18288"/>
                </a:cubicBezTo>
                <a:cubicBezTo>
                  <a:pt x="1225211" y="37043"/>
                  <a:pt x="1038692" y="34308"/>
                  <a:pt x="715975" y="18288"/>
                </a:cubicBezTo>
                <a:cubicBezTo>
                  <a:pt x="393258" y="2268"/>
                  <a:pt x="303768" y="26944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030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C51C-0D74-9B41-1F58-5380F0A82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5CF7B-AA8D-4144-8439-439E8F953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Sun emits solar wind at the Earth </a:t>
            </a:r>
          </a:p>
          <a:p>
            <a:r>
              <a:rPr lang="en-US" dirty="0"/>
              <a:t>Can create geomagnetic storms affecting power grids, satellites, and communication systems. </a:t>
            </a:r>
          </a:p>
          <a:p>
            <a:r>
              <a:rPr lang="en-US" dirty="0"/>
              <a:t>Useful for operators to receive "early warning" about potential solar storms.</a:t>
            </a:r>
          </a:p>
          <a:p>
            <a:r>
              <a:rPr lang="en-US" dirty="0"/>
              <a:t>This project: predict solar storms from incoming solar wind data (~45 minute lead time)</a:t>
            </a:r>
          </a:p>
        </p:txBody>
      </p:sp>
    </p:spTree>
    <p:extLst>
      <p:ext uri="{BB962C8B-B14F-4D97-AF65-F5344CB8AC3E}">
        <p14:creationId xmlns:p14="http://schemas.microsoft.com/office/powerpoint/2010/main" val="28368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3CEAA-CDEB-8B21-8A06-F8A8C809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095D4-C435-82EC-596D-FCFD1A895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573"/>
            <a:ext cx="10515600" cy="4351338"/>
          </a:xfrm>
        </p:spPr>
        <p:txBody>
          <a:bodyPr/>
          <a:lstStyle/>
          <a:p>
            <a:r>
              <a:rPr lang="en-US" dirty="0"/>
              <a:t>Solar storms do not happen all the time </a:t>
            </a:r>
            <a:r>
              <a:rPr lang="en-US" b="1" dirty="0"/>
              <a:t>→</a:t>
            </a:r>
            <a:r>
              <a:rPr lang="en-US" dirty="0"/>
              <a:t> rare event prediction</a:t>
            </a:r>
          </a:p>
          <a:p>
            <a:r>
              <a:rPr lang="en-US" dirty="0"/>
              <a:t>Weather is simply not 100% detectable</a:t>
            </a:r>
          </a:p>
          <a:p>
            <a:r>
              <a:rPr lang="en-US" dirty="0"/>
              <a:t>False positive (false alarm) is more desirable than false negative </a:t>
            </a:r>
            <a:r>
              <a:rPr lang="en-US" b="1" dirty="0"/>
              <a:t>→</a:t>
            </a:r>
            <a:r>
              <a:rPr lang="en-US" dirty="0"/>
              <a:t> prefer to maximize recall subject to fixed precision.</a:t>
            </a:r>
          </a:p>
          <a:p>
            <a:r>
              <a:rPr lang="en-US" dirty="0"/>
              <a:t>Weather prediction goals: recall &gt; .60, precision &gt; .30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F27DE0-0E27-1228-E304-2CF4314A8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312" y="4098158"/>
            <a:ext cx="7772400" cy="273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53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E66E1-E2C3-3697-C02B-89C0E2503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36FB6-AAA7-EF10-E5D7-A6C2DC3F5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NASA and NOAA provide data from satellites situated between the Earth and the Sun.</a:t>
            </a:r>
          </a:p>
          <a:p>
            <a:r>
              <a:rPr lang="en-US" dirty="0"/>
              <a:t>NASA: historical time-aligned data</a:t>
            </a:r>
          </a:p>
          <a:p>
            <a:r>
              <a:rPr lang="en-US" dirty="0"/>
              <a:t>NOAA: real time solar wind data</a:t>
            </a:r>
          </a:p>
        </p:txBody>
      </p:sp>
      <p:pic>
        <p:nvPicPr>
          <p:cNvPr id="4" name="Picture 3" descr="Artist's rendering of DSCOVR satellite between the Earth and sun. ">
            <a:extLst>
              <a:ext uri="{FF2B5EF4-FFF2-40B4-BE49-F238E27FC236}">
                <a16:creationId xmlns:a16="http://schemas.microsoft.com/office/drawing/2014/main" id="{7D802923-1A2D-717A-EFA7-D0E7E1A26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096" y="2590947"/>
            <a:ext cx="5445685" cy="3267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098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8626C-51DF-7766-9AA8-8B1C4C44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NASA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954EB-B65B-857E-0D88-48DFF7122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NASA data is well-documented, but has some eccentricities that require basic cleaning</a:t>
            </a:r>
          </a:p>
          <a:p>
            <a:r>
              <a:rPr lang="en-US" dirty="0"/>
              <a:t>Satellite data can have gaps, so data must be appropriately cleaned </a:t>
            </a:r>
          </a:p>
          <a:p>
            <a:r>
              <a:rPr lang="en-US" dirty="0"/>
              <a:t>Input features are hourly, but output response is a rolling 3 hour average</a:t>
            </a:r>
          </a:p>
        </p:txBody>
      </p:sp>
    </p:spTree>
    <p:extLst>
      <p:ext uri="{BB962C8B-B14F-4D97-AF65-F5344CB8AC3E}">
        <p14:creationId xmlns:p14="http://schemas.microsoft.com/office/powerpoint/2010/main" val="2173881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B57B-3067-55D4-D1C7-DC02F140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0D33D-B722-BB1A-DE4C-10A806F33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Physics informed features: </a:t>
            </a:r>
          </a:p>
          <a:p>
            <a:pPr lvl="1"/>
            <a:r>
              <a:rPr lang="en-US" dirty="0"/>
              <a:t>Angle between solar wind and Earth's magnetic field</a:t>
            </a:r>
          </a:p>
          <a:p>
            <a:pPr lvl="1"/>
            <a:r>
              <a:rPr lang="en-US" dirty="0"/>
              <a:t>Energy flux</a:t>
            </a:r>
          </a:p>
          <a:p>
            <a:pPr lvl="1"/>
            <a:r>
              <a:rPr lang="en-US" dirty="0"/>
              <a:t>Rolling averages of measurements</a:t>
            </a:r>
          </a:p>
          <a:p>
            <a:pPr lvl="1"/>
            <a:r>
              <a:rPr lang="en-US" dirty="0"/>
              <a:t>Variation in magnetic orientation of solar wind</a:t>
            </a:r>
          </a:p>
          <a:p>
            <a:pPr lvl="1"/>
            <a:r>
              <a:rPr lang="en-US" dirty="0"/>
              <a:t>"Newell coupling" </a:t>
            </a:r>
          </a:p>
          <a:p>
            <a:r>
              <a:rPr lang="en-US" dirty="0"/>
              <a:t>Some features were highly correlated, so they were dropped to improve model performance</a:t>
            </a:r>
          </a:p>
          <a:p>
            <a:pPr lvl="1"/>
            <a:r>
              <a:rPr lang="en-US" dirty="0"/>
              <a:t>Many engineered rolling averages were too highly correlated with raw features.</a:t>
            </a:r>
          </a:p>
          <a:p>
            <a:pPr lvl="1"/>
            <a:r>
              <a:rPr lang="en-US" dirty="0"/>
              <a:t>Features encoding solar wind vector had some redundancy and so a few were dropped.</a:t>
            </a:r>
          </a:p>
        </p:txBody>
      </p:sp>
    </p:spTree>
    <p:extLst>
      <p:ext uri="{BB962C8B-B14F-4D97-AF65-F5344CB8AC3E}">
        <p14:creationId xmlns:p14="http://schemas.microsoft.com/office/powerpoint/2010/main" val="2675967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277A0-780C-5748-03A3-CF49654F1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9E8AB-E49A-A140-788B-D3E648F7C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Time series data</a:t>
            </a:r>
          </a:p>
          <a:p>
            <a:pPr lvl="1"/>
            <a:r>
              <a:rPr lang="en-US" dirty="0"/>
              <a:t>Used 20 years of historical data</a:t>
            </a:r>
          </a:p>
          <a:p>
            <a:pPr lvl="1"/>
            <a:r>
              <a:rPr lang="en-US" dirty="0"/>
              <a:t>Cross-validation with 1 year folds</a:t>
            </a:r>
          </a:p>
          <a:p>
            <a:r>
              <a:rPr lang="en-US" dirty="0"/>
              <a:t>Weather prediction domain</a:t>
            </a:r>
          </a:p>
          <a:p>
            <a:pPr lvl="1"/>
            <a:r>
              <a:rPr lang="en-US" dirty="0"/>
              <a:t>Maximize recall with precision &gt;= .30</a:t>
            </a:r>
          </a:p>
          <a:p>
            <a:pPr lvl="1"/>
            <a:r>
              <a:rPr lang="en-US" dirty="0"/>
              <a:t>Maintain realistic expectations for results</a:t>
            </a:r>
          </a:p>
          <a:p>
            <a:pPr lvl="1"/>
            <a:r>
              <a:rPr lang="en-US" dirty="0"/>
              <a:t>Adjust probability threshold on models</a:t>
            </a:r>
          </a:p>
          <a:p>
            <a:r>
              <a:rPr lang="en-US" dirty="0"/>
              <a:t>Hyperparameter tuning using </a:t>
            </a:r>
            <a:r>
              <a:rPr lang="en-US" dirty="0" err="1"/>
              <a:t>Optuna</a:t>
            </a:r>
            <a:endParaRPr lang="en-US" dirty="0"/>
          </a:p>
          <a:p>
            <a:r>
              <a:rPr lang="en-US" dirty="0"/>
              <a:t>Baselines</a:t>
            </a:r>
          </a:p>
          <a:p>
            <a:pPr lvl="1"/>
            <a:r>
              <a:rPr lang="en-US" dirty="0"/>
              <a:t>High precision 0 recall: Dummy classifier always says "No Storm"</a:t>
            </a:r>
          </a:p>
          <a:p>
            <a:pPr lvl="1"/>
            <a:r>
              <a:rPr lang="en-US" dirty="0"/>
              <a:t>Other standard models without feature engineering: &lt; 0.3 recall and &lt; 0.6 precision </a:t>
            </a:r>
          </a:p>
        </p:txBody>
      </p:sp>
    </p:spTree>
    <p:extLst>
      <p:ext uri="{BB962C8B-B14F-4D97-AF65-F5344CB8AC3E}">
        <p14:creationId xmlns:p14="http://schemas.microsoft.com/office/powerpoint/2010/main" val="60001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53901-B271-8387-BA37-6EBCAD2C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</a:t>
            </a:r>
            <a:r>
              <a:rPr lang="en-US" dirty="0" err="1"/>
              <a:t>XGBClassifier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40AAD-D18E-43C8-D634-628B7016F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ROC-AUC        : 0.9620</a:t>
            </a:r>
          </a:p>
          <a:p>
            <a:r>
              <a:rPr lang="en-US" dirty="0"/>
              <a:t>Avg Precision  : 0.5706</a:t>
            </a:r>
          </a:p>
          <a:p>
            <a:r>
              <a:rPr lang="en-US" dirty="0"/>
              <a:t>Brier Score    : 0.0536</a:t>
            </a:r>
          </a:p>
          <a:p>
            <a:r>
              <a:rPr lang="en-US" dirty="0"/>
              <a:t>Overall Precision: 0.3260</a:t>
            </a:r>
          </a:p>
          <a:p>
            <a:r>
              <a:rPr lang="en-US" dirty="0"/>
              <a:t>Overall Recall : 0.7517</a:t>
            </a:r>
          </a:p>
        </p:txBody>
      </p:sp>
    </p:spTree>
    <p:extLst>
      <p:ext uri="{BB962C8B-B14F-4D97-AF65-F5344CB8AC3E}">
        <p14:creationId xmlns:p14="http://schemas.microsoft.com/office/powerpoint/2010/main" val="3675090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5A8C-BC50-E9E6-811B-C1B4900E5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26D2E6D-F72A-15BE-574B-806174EC13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3068" y="-646362"/>
            <a:ext cx="7645864" cy="68999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C42D77-2131-6F91-E8ED-45CBE4BA61D8}"/>
              </a:ext>
            </a:extLst>
          </p:cNvPr>
          <p:cNvSpPr txBox="1"/>
          <p:nvPr/>
        </p:nvSpPr>
        <p:spPr>
          <a:xfrm>
            <a:off x="4355025" y="6393050"/>
            <a:ext cx="2603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model-</a:t>
            </a:r>
            <a:r>
              <a:rPr lang="en-US" dirty="0" err="1"/>
              <a:t>selection.ipynb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305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D5978-D395-757C-6C9A-40581A758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and potential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0363B-0DE3-E1B8-E3AA-CAF97F46C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Will give many false positives</a:t>
            </a:r>
          </a:p>
          <a:p>
            <a:r>
              <a:rPr lang="en-US" dirty="0"/>
              <a:t>Further time horizon predictions not realistic without additional data sources</a:t>
            </a:r>
          </a:p>
          <a:p>
            <a:pPr lvl="1"/>
            <a:r>
              <a:rPr lang="en-US" dirty="0"/>
              <a:t>Optical data from sun</a:t>
            </a:r>
          </a:p>
          <a:p>
            <a:r>
              <a:rPr lang="en-US" dirty="0"/>
              <a:t>Model could be deployed with "online" data from NOAA</a:t>
            </a:r>
          </a:p>
          <a:p>
            <a:pPr lvl="1"/>
            <a:r>
              <a:rPr lang="en-US" dirty="0"/>
              <a:t>Data ingestion built, but online deployment not developed for lack of time</a:t>
            </a:r>
          </a:p>
          <a:p>
            <a:r>
              <a:rPr lang="en-US" dirty="0"/>
              <a:t>Business use case</a:t>
            </a:r>
          </a:p>
          <a:p>
            <a:pPr lvl="1"/>
            <a:r>
              <a:rPr lang="en-US" dirty="0"/>
              <a:t>Provide advanced warning of potential geomagnetic storm to grid operators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2045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413</Words>
  <Application>Microsoft Macintosh PowerPoint</Application>
  <PresentationFormat>Widescreen</PresentationFormat>
  <Paragraphs>58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Solar Storm Prediction</vt:lpstr>
      <vt:lpstr>Summary</vt:lpstr>
      <vt:lpstr>Problem setup</vt:lpstr>
      <vt:lpstr>Data sources</vt:lpstr>
      <vt:lpstr>NASA Data</vt:lpstr>
      <vt:lpstr>Feature selection</vt:lpstr>
      <vt:lpstr>Model Selection</vt:lpstr>
      <vt:lpstr>Results (XGBClassifier)</vt:lpstr>
      <vt:lpstr>PowerPoint Presentation</vt:lpstr>
      <vt:lpstr>Limitations and potential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Seelinger, George H (ghs9ae)</dc:creator>
  <cp:lastModifiedBy>Seelinger, George H (ghs9ae)</cp:lastModifiedBy>
  <cp:revision>2</cp:revision>
  <dcterms:created xsi:type="dcterms:W3CDTF">2026-03-22T02:46:20Z</dcterms:created>
  <dcterms:modified xsi:type="dcterms:W3CDTF">2026-03-22T04:21:00Z</dcterms:modified>
</cp:coreProperties>
</file>